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lCMPyV01GKbQOuLK1OJo17fdS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F9A356-ACFB-4FAA-9867-6E1473F95AC0}">
  <a:tblStyle styleId="{42F9A356-ACFB-4FAA-9867-6E1473F95AC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hyperlink" Target="about:blank" TargetMode="External"/><Relationship Id="rId6" Type="http://schemas.openxmlformats.org/officeDocument/2006/relationships/hyperlink" Target="about:blank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6858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417320" y="68580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DIGITAL SYSTEM  ·  EEE3822  ·  ASSIGNMENT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77240" y="1965960"/>
            <a:ext cx="9875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FPGA-Based Digital Door Lock System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77240" y="3063240"/>
            <a:ext cx="8686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Verilog HDL Implementation on the Cyclone IV Platform — Password Verification, LED Status Indication, and 7-Segment Message Display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4343400"/>
            <a:ext cx="6949440" cy="1554480"/>
          </a:xfrm>
          <a:prstGeom prst="roundRect">
            <a:avLst>
              <a:gd fmla="val 4118" name="adj"/>
            </a:avLst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51560" y="4498848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51560" y="4846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Peh Yan Jiun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54880" y="484632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229196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51560" y="51755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 Xinyuan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754880" y="5175504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226838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77240" y="6080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Lecturer: </a:t>
            </a:r>
            <a:r>
              <a:rPr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Dr Roslina binti Mohd Sidek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77240" y="638251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9BD6"/>
                </a:solidFill>
                <a:latin typeface="Calibri"/>
                <a:ea typeface="Calibri"/>
                <a:cs typeface="Calibri"/>
                <a:sym typeface="Calibri"/>
              </a:rPr>
              <a:t>23 June 2026  ·  Faculty of Engineering, UPM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Project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password-based access-control system implemented entirely in synchronous Verilog HDL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40080" y="1508760"/>
            <a:ext cx="5852160" cy="4709160"/>
          </a:xfrm>
          <a:prstGeom prst="roundRect">
            <a:avLst>
              <a:gd fmla="val 1553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14400" y="178308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THE SYSTEM DOES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14400" y="219456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Implements a 10-bit password-based digital door lock on an Intel/Altera Cyclone IV FPGA (DE2-115 board)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14400" y="315468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Slide switches SW[9:0] act as the password input; SW17 sets a new password and SW16 verifies the entered password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914400" y="411480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A lock_status register drives two output displays: 18 LEDs (green = unlocked, red = locked) and 8 seven-segment displays spelling “UNLOCKED” or “LOCKED”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14400" y="5074920"/>
            <a:ext cx="5303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300"/>
              <a:buFont typeface="Calibri"/>
              <a:buChar char="▪"/>
            </a:pPr>
            <a:r>
              <a:rPr lang="en-US" sz="13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Verified through a self-checking testbench in ModelSim before synthesis in Quartus Prime Lite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675120" y="1508760"/>
            <a:ext cx="4892040" cy="4709160"/>
          </a:xfrm>
          <a:prstGeom prst="roundRect">
            <a:avLst>
              <a:gd fmla="val 1553" name="adj"/>
            </a:avLst>
          </a:prstGeom>
          <a:solidFill>
            <a:srgbClr val="1E2761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949440" y="17830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CONCEPTS DEMONSTRATED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967728" y="2212848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8312" y="231343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7543800" y="214884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Synchronous sequential logic clocked at 50 MHz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967728" y="2862072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68312" y="29626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543800" y="2798064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Rising-edge detection on control switches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967728" y="3511296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8312" y="361188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/>
          <p:nvPr/>
        </p:nvSpPr>
        <p:spPr>
          <a:xfrm>
            <a:off x="7543800" y="3447288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Register-based password storage &amp; comparison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967728" y="4160520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8312" y="426110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7543800" y="4096512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Finite-state output control (IDLE / LOCKED / UNLOCKED)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967728" y="4809744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68312" y="49103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7543800" y="4745736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Combinational 7-segment character decoding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967728" y="5458968"/>
            <a:ext cx="420624" cy="420624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68312" y="5559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7543800" y="5394960"/>
            <a:ext cx="3886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Simulation-based functional verification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Target Hardware Specifications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Design parameters for the Cyclone IV development platform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3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{42F9A356-ACFB-4FAA-9867-6E1473F95AC0}</a:tableStyleId>
              </a:tblPr>
              <a:tblGrid>
                <a:gridCol w="3474725"/>
                <a:gridCol w="74066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Item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Specification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FPGA Family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Intel / Altera Cyclone IV 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FPGA Device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EP4CE115F29C7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Board Type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DE2-115 / Cyclone IV development platform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Design Language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Verilog HDL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Module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custom_FPGA_door_lock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Clock Period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ns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Operating Frequency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MHz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 Interface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CLOCK_50 and 18 slide switches: SW[17:0]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 Interface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green LEDs, 18 red LEDs, and 8 seven-segment displays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Source: Lab report §3.1 — Technical Specifications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System Components &amp; I/O Mapping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0080" y="960120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Every input and output signal used in the custom_FPGA_door_lock module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4"/>
          <p:cNvGraphicFramePr/>
          <p:nvPr/>
        </p:nvGraphicFramePr>
        <p:xfrm>
          <a:off x="64008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{42F9A356-ACFB-4FAA-9867-6E1473F95AC0}</a:tableStyleId>
              </a:tblPr>
              <a:tblGrid>
                <a:gridCol w="2103125"/>
                <a:gridCol w="1463050"/>
                <a:gridCol w="1188725"/>
                <a:gridCol w="6126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Width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Function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CLOCK_50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MHz system clock — drives all sequential logic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SW[9:0]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value entered via slide switches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SW[16]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Verify trigger — rising edge compares entered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SW[17]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trigger — rising edge stores a new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LEDG[8:0]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Green LEDs — all ON when status is UNLOCKED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LEDR[17:0]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 LEDs — all ON when status is LOCKED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HEX0–HEX7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Output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7-bit × 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Seven-segment displays — show “UNLOCKED” or “LOCKED”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saved_password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reg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Stores the currently active 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ourier New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lock_status</a:t>
                      </a:r>
                      <a:endParaRPr sz="12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Internal reg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2-bit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Holds IDLE / LOCKED / UNLOCKED state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640080" y="3657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Top-Level System 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40080" y="804672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SW17 sets the password; SW16 verifies it. lock_status drives both display blocks consistently.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02920" y="1417320"/>
            <a:ext cx="2468880" cy="2286000"/>
          </a:xfrm>
          <a:prstGeom prst="roundRect">
            <a:avLst>
              <a:gd fmla="val 2800" name="adj"/>
            </a:avLst>
          </a:prstGeom>
          <a:solidFill>
            <a:srgbClr val="FFFFFF"/>
          </a:solidFill>
          <a:ln cap="flat" cmpd="sng" w="12700">
            <a:solidFill>
              <a:srgbClr val="C7D2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67512" y="1508760"/>
            <a:ext cx="21396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67512" y="1837944"/>
            <a:ext cx="2139696" cy="17739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CLOCK_50: 50 MHz clock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SW[9:0]: 10-bit password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SW16: verify trigger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SW17: set trigger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3520440" y="1325880"/>
            <a:ext cx="3657600" cy="2926080"/>
          </a:xfrm>
          <a:prstGeom prst="roundRect">
            <a:avLst>
              <a:gd fmla="val 2188" name="adj"/>
            </a:avLst>
          </a:prstGeom>
          <a:solidFill>
            <a:srgbClr val="1E2761"/>
          </a:solidFill>
          <a:ln cap="flat" cmpd="sng" w="12700">
            <a:solidFill>
              <a:srgbClr val="C7D2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685032" y="1417320"/>
            <a:ext cx="33284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custom_FPGA_door_lock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685032" y="1746504"/>
            <a:ext cx="3328416" cy="2414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Rising-edge detectors (SW16, SW17)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10-bit password register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Comparator (SW[9:0] vs saved password)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Lock-status register (IDLE / LOCKED / UNLOCKED)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7-segment message decoder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7726680" y="1143000"/>
            <a:ext cx="3931920" cy="1371600"/>
          </a:xfrm>
          <a:prstGeom prst="roundRect">
            <a:avLst>
              <a:gd fmla="val 4667" name="adj"/>
            </a:avLst>
          </a:prstGeom>
          <a:solidFill>
            <a:srgbClr val="FFFFFF"/>
          </a:solidFill>
          <a:ln cap="flat" cmpd="sng" w="12700">
            <a:solidFill>
              <a:srgbClr val="C7D2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891272" y="1234440"/>
            <a:ext cx="3602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LED OUTPUTS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891272" y="1563624"/>
            <a:ext cx="3602736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LEDG[8:0] — all ON when UNLOCKED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LEDR[17:0] — all ON when LOCKED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726680" y="2743200"/>
            <a:ext cx="3931920" cy="1783080"/>
          </a:xfrm>
          <a:prstGeom prst="roundRect">
            <a:avLst>
              <a:gd fmla="val 3590" name="adj"/>
            </a:avLst>
          </a:prstGeom>
          <a:solidFill>
            <a:srgbClr val="FFFFFF"/>
          </a:solidFill>
          <a:ln cap="flat" cmpd="sng" w="12700">
            <a:solidFill>
              <a:srgbClr val="C7D2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891272" y="2834640"/>
            <a:ext cx="36027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HEX OUTPUTS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891272" y="3163824"/>
            <a:ext cx="3602736" cy="1271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HEX7..HEX0 display “UNLOCKED”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HEX5..HEX0 display “LOCKED”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30"/>
              <a:buFont typeface="Calibri"/>
              <a:buChar char="•"/>
            </a:pPr>
            <a:r>
              <a:rPr lang="en-US" sz="103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Active-low segment encoding</a:t>
            </a:r>
            <a:endParaRPr sz="10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2971800" y="278892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5"/>
          <p:cNvCxnSpPr/>
          <p:nvPr/>
        </p:nvCxnSpPr>
        <p:spPr>
          <a:xfrm flipH="1" rot="10800000">
            <a:off x="7178040" y="1828800"/>
            <a:ext cx="548640" cy="228600"/>
          </a:xfrm>
          <a:prstGeom prst="straightConnector1">
            <a:avLst/>
          </a:prstGeom>
          <a:noFill/>
          <a:ln cap="flat" cmpd="sng" w="25400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5"/>
          <p:cNvCxnSpPr/>
          <p:nvPr/>
        </p:nvCxnSpPr>
        <p:spPr>
          <a:xfrm>
            <a:off x="7178040" y="2926080"/>
            <a:ext cx="548640" cy="411480"/>
          </a:xfrm>
          <a:prstGeom prst="straightConnector1">
            <a:avLst/>
          </a:prstGeom>
          <a:noFill/>
          <a:ln cap="flat" cmpd="sng" w="25400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2514473" y="29946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switch &amp; clock inputs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284720" y="15544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status LEDs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284720" y="2560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Calibri"/>
              <a:buNone/>
            </a:pPr>
            <a:r>
              <a:rPr i="1" lang="en-US" sz="8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message display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02920" y="4709160"/>
            <a:ext cx="11155680" cy="1325880"/>
          </a:xfrm>
          <a:prstGeom prst="roundRect">
            <a:avLst>
              <a:gd fmla="val 4828" name="adj"/>
            </a:avLst>
          </a:prstGeom>
          <a:solidFill>
            <a:srgbClr val="FFF8E8"/>
          </a:solidFill>
          <a:ln cap="flat" cmpd="sng" w="12700">
            <a:solidFill>
              <a:srgbClr val="EFDF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77240" y="48463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D1E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8A6D1E"/>
                </a:solidFill>
                <a:latin typeface="Calibri"/>
                <a:ea typeface="Calibri"/>
                <a:cs typeface="Calibri"/>
                <a:sym typeface="Calibri"/>
              </a:rPr>
              <a:t>BEHAVIOR SUMMARY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A1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12"/>
                </a:solidFill>
                <a:latin typeface="Calibri"/>
                <a:ea typeface="Calibri"/>
                <a:cs typeface="Calibri"/>
                <a:sym typeface="Calibri"/>
              </a:rPr>
              <a:t>SW17 rising edge → stores SW[9:0] into saved_password and returns lock_status to IDLE.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4A12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5C4A12"/>
                </a:solidFill>
                <a:latin typeface="Calibri"/>
                <a:ea typeface="Calibri"/>
                <a:cs typeface="Calibri"/>
                <a:sym typeface="Calibri"/>
              </a:rPr>
              <a:t>SW16 rising edge → compares SW[9:0] with saved_password. A match sets UNLOCKED; a mismatch sets LOCKED.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0080" y="614476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Figure 1 (adapted) — Updated top-level block diagram of the FPGA-based digital door lock system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502920" y="201168"/>
            <a:ext cx="9144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Flowchart of Verilog Code Operation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02920" y="54864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Formal flowchart — every decision diamond shows an explicit Yes and No exit path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2697480" y="896112"/>
            <a:ext cx="1920240" cy="292608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2697480" y="8961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 / POWER-ON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6"/>
          <p:cNvCxnSpPr/>
          <p:nvPr/>
        </p:nvCxnSpPr>
        <p:spPr>
          <a:xfrm>
            <a:off x="3648456" y="1188720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6"/>
          <p:cNvSpPr/>
          <p:nvPr/>
        </p:nvSpPr>
        <p:spPr>
          <a:xfrm>
            <a:off x="2263140" y="1261872"/>
            <a:ext cx="278892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2354580" y="1289304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39"/>
              <a:buFont typeface="Calibri"/>
              <a:buNone/>
            </a:pPr>
            <a:r>
              <a:rPr lang="en-US" sz="84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saved_password = 0;  lock_status = IDLE</a:t>
            </a:r>
            <a:endParaRPr sz="8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3648456" y="1572768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6"/>
          <p:cNvSpPr/>
          <p:nvPr/>
        </p:nvSpPr>
        <p:spPr>
          <a:xfrm>
            <a:off x="2263140" y="1645920"/>
            <a:ext cx="278892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2354580" y="1673352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On posedge CLOCK_50: latch sw16_prev, sw17_prev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6"/>
          <p:cNvCxnSpPr/>
          <p:nvPr/>
        </p:nvCxnSpPr>
        <p:spPr>
          <a:xfrm>
            <a:off x="3648456" y="1956816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6"/>
          <p:cNvSpPr/>
          <p:nvPr/>
        </p:nvSpPr>
        <p:spPr>
          <a:xfrm>
            <a:off x="2263140" y="2029968"/>
            <a:ext cx="2788920" cy="512064"/>
          </a:xfrm>
          <a:prstGeom prst="diamond">
            <a:avLst/>
          </a:prstGeom>
          <a:solidFill>
            <a:srgbClr val="EFEAFB"/>
          </a:solidFill>
          <a:ln cap="flat" cmpd="sng" w="15875">
            <a:solidFill>
              <a:srgbClr val="B9A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628900" y="2075688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A3A86"/>
              </a:buClr>
              <a:buSzPts val="880"/>
              <a:buFont typeface="Calibri"/>
              <a:buNone/>
            </a:pPr>
            <a:r>
              <a:rPr b="1" lang="en-US" sz="880">
                <a:solidFill>
                  <a:srgbClr val="4A3A86"/>
                </a:solidFill>
                <a:latin typeface="Calibri"/>
                <a:ea typeface="Calibri"/>
                <a:cs typeface="Calibri"/>
                <a:sym typeface="Calibri"/>
              </a:rPr>
              <a:t>SW17 rising edge?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6"/>
          <p:cNvCxnSpPr/>
          <p:nvPr/>
        </p:nvCxnSpPr>
        <p:spPr>
          <a:xfrm>
            <a:off x="3648456" y="2542032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6"/>
          <p:cNvSpPr/>
          <p:nvPr/>
        </p:nvSpPr>
        <p:spPr>
          <a:xfrm>
            <a:off x="3910584" y="2431923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2263140" y="2615184"/>
            <a:ext cx="278892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2354580" y="2642616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780"/>
              <a:buFont typeface="Calibri"/>
              <a:buNone/>
            </a:pPr>
            <a:r>
              <a:rPr lang="en-US" sz="7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saved_password ← SW[9:0];  lock_status ← IDLE</a:t>
            </a:r>
            <a:endParaRPr sz="7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6"/>
          <p:cNvCxnSpPr/>
          <p:nvPr/>
        </p:nvCxnSpPr>
        <p:spPr>
          <a:xfrm>
            <a:off x="5052060" y="2286000"/>
            <a:ext cx="4594860" cy="0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"/>
          <p:cNvSpPr/>
          <p:nvPr/>
        </p:nvSpPr>
        <p:spPr>
          <a:xfrm>
            <a:off x="7075170" y="208483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6"/>
          <p:cNvCxnSpPr/>
          <p:nvPr/>
        </p:nvCxnSpPr>
        <p:spPr>
          <a:xfrm>
            <a:off x="3648456" y="2926080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6"/>
          <p:cNvSpPr/>
          <p:nvPr/>
        </p:nvSpPr>
        <p:spPr>
          <a:xfrm>
            <a:off x="2263140" y="2999232"/>
            <a:ext cx="2788920" cy="512064"/>
          </a:xfrm>
          <a:prstGeom prst="diamond">
            <a:avLst/>
          </a:prstGeom>
          <a:solidFill>
            <a:srgbClr val="EFEAFB"/>
          </a:solidFill>
          <a:ln cap="flat" cmpd="sng" w="15875">
            <a:solidFill>
              <a:srgbClr val="B9A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628900" y="3044952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A3A86"/>
              </a:buClr>
              <a:buSzPts val="880"/>
              <a:buFont typeface="Calibri"/>
              <a:buNone/>
            </a:pPr>
            <a:r>
              <a:rPr b="1" lang="en-US" sz="880">
                <a:solidFill>
                  <a:srgbClr val="4A3A86"/>
                </a:solidFill>
                <a:latin typeface="Calibri"/>
                <a:ea typeface="Calibri"/>
                <a:cs typeface="Calibri"/>
                <a:sym typeface="Calibri"/>
              </a:rPr>
              <a:t>SW16 rising edge?</a:t>
            </a:r>
            <a:endParaRPr sz="8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9637776" y="2286000"/>
            <a:ext cx="18288" cy="969264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6"/>
          <p:cNvCxnSpPr/>
          <p:nvPr/>
        </p:nvCxnSpPr>
        <p:spPr>
          <a:xfrm rot="10800000">
            <a:off x="5052060" y="3255264"/>
            <a:ext cx="4594860" cy="0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6"/>
          <p:cNvCxnSpPr/>
          <p:nvPr/>
        </p:nvCxnSpPr>
        <p:spPr>
          <a:xfrm>
            <a:off x="3648456" y="3511296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6"/>
          <p:cNvSpPr/>
          <p:nvPr/>
        </p:nvSpPr>
        <p:spPr>
          <a:xfrm>
            <a:off x="3910584" y="3401822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2263140" y="3584448"/>
            <a:ext cx="278892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2354580" y="3611880"/>
            <a:ext cx="2606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Compare SW[9:0] with saved_password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5052060" y="3255264"/>
            <a:ext cx="4594860" cy="0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43" name="Google Shape;143;p6"/>
          <p:cNvSpPr/>
          <p:nvPr/>
        </p:nvSpPr>
        <p:spPr>
          <a:xfrm>
            <a:off x="7075170" y="3054096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3648456" y="3895344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6"/>
          <p:cNvSpPr/>
          <p:nvPr/>
        </p:nvSpPr>
        <p:spPr>
          <a:xfrm>
            <a:off x="2263140" y="3968496"/>
            <a:ext cx="2788920" cy="512064"/>
          </a:xfrm>
          <a:prstGeom prst="diamond">
            <a:avLst/>
          </a:prstGeom>
          <a:solidFill>
            <a:srgbClr val="EFEAFB"/>
          </a:solidFill>
          <a:ln cap="flat" cmpd="sng" w="15875">
            <a:solidFill>
              <a:srgbClr val="B9A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2628900" y="4014216"/>
            <a:ext cx="2057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4A3A86"/>
              </a:buClr>
              <a:buSzPts val="820"/>
              <a:buFont typeface="Calibri"/>
              <a:buNone/>
            </a:pPr>
            <a:r>
              <a:rPr b="1" lang="en-US" sz="820">
                <a:solidFill>
                  <a:srgbClr val="4A3A86"/>
                </a:solidFill>
                <a:latin typeface="Calibri"/>
                <a:ea typeface="Calibri"/>
                <a:cs typeface="Calibri"/>
                <a:sym typeface="Calibri"/>
              </a:rPr>
              <a:t>SW[9:0] == saved_password?</a:t>
            </a:r>
            <a:endParaRPr sz="8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1691640" y="4224528"/>
            <a:ext cx="571500" cy="0"/>
          </a:xfrm>
          <a:prstGeom prst="straightConnector1">
            <a:avLst/>
          </a:prstGeom>
          <a:noFill/>
          <a:ln cap="flat" cmpd="sng" w="1905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6"/>
          <p:cNvSpPr/>
          <p:nvPr/>
        </p:nvSpPr>
        <p:spPr>
          <a:xfrm>
            <a:off x="2148840" y="4014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91540" y="4590288"/>
            <a:ext cx="1600200" cy="384048"/>
          </a:xfrm>
          <a:prstGeom prst="roundRect">
            <a:avLst>
              <a:gd fmla="val 11905" name="adj"/>
            </a:avLst>
          </a:prstGeom>
          <a:solidFill>
            <a:srgbClr val="E6F5F1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82980" y="46177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B5E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0E6B5E"/>
                </a:solidFill>
                <a:latin typeface="Calibri"/>
                <a:ea typeface="Calibri"/>
                <a:cs typeface="Calibri"/>
                <a:sym typeface="Calibri"/>
              </a:rPr>
              <a:t>lock_status ← UNLOCKED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>
            <a:off x="1691640" y="4224528"/>
            <a:ext cx="18288" cy="365760"/>
          </a:xfrm>
          <a:prstGeom prst="straightConnector1">
            <a:avLst/>
          </a:prstGeom>
          <a:noFill/>
          <a:ln cap="flat" cmpd="sng" w="1905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6"/>
          <p:cNvCxnSpPr/>
          <p:nvPr/>
        </p:nvCxnSpPr>
        <p:spPr>
          <a:xfrm>
            <a:off x="5052060" y="4224528"/>
            <a:ext cx="571500" cy="0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4960620" y="401447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850"/>
              <a:buFont typeface="Calibri"/>
              <a:buNone/>
            </a:pPr>
            <a:r>
              <a:rPr b="1" i="1" lang="en-US" sz="8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No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823460" y="4590288"/>
            <a:ext cx="1600200" cy="384048"/>
          </a:xfrm>
          <a:prstGeom prst="roundRect">
            <a:avLst>
              <a:gd fmla="val 11905" name="adj"/>
            </a:avLst>
          </a:prstGeom>
          <a:solidFill>
            <a:srgbClr val="FBEAE6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914900" y="4617720"/>
            <a:ext cx="1417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2E1C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8C2E1C"/>
                </a:solidFill>
                <a:latin typeface="Calibri"/>
                <a:ea typeface="Calibri"/>
                <a:cs typeface="Calibri"/>
                <a:sym typeface="Calibri"/>
              </a:rPr>
              <a:t>lock_status ← LOCKED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>
            <a:off x="5623560" y="4224528"/>
            <a:ext cx="18288" cy="365760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6"/>
          <p:cNvCxnSpPr/>
          <p:nvPr/>
        </p:nvCxnSpPr>
        <p:spPr>
          <a:xfrm>
            <a:off x="1691640" y="4974336"/>
            <a:ext cx="18288" cy="128016"/>
          </a:xfrm>
          <a:prstGeom prst="straightConnector1">
            <a:avLst/>
          </a:prstGeom>
          <a:noFill/>
          <a:ln cap="flat" cmpd="sng" w="1905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6"/>
          <p:cNvCxnSpPr/>
          <p:nvPr/>
        </p:nvCxnSpPr>
        <p:spPr>
          <a:xfrm>
            <a:off x="5623560" y="4974336"/>
            <a:ext cx="18288" cy="128016"/>
          </a:xfrm>
          <a:prstGeom prst="straightConnector1">
            <a:avLst/>
          </a:prstGeom>
          <a:noFill/>
          <a:ln cap="flat" cmpd="sng" w="19050">
            <a:solidFill>
              <a:srgbClr val="C143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6"/>
          <p:cNvCxnSpPr/>
          <p:nvPr/>
        </p:nvCxnSpPr>
        <p:spPr>
          <a:xfrm>
            <a:off x="1691640" y="5102352"/>
            <a:ext cx="1965960" cy="0"/>
          </a:xfrm>
          <a:prstGeom prst="straightConnector1">
            <a:avLst/>
          </a:prstGeom>
          <a:noFill/>
          <a:ln cap="flat" cmpd="sng" w="1587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6"/>
          <p:cNvCxnSpPr/>
          <p:nvPr/>
        </p:nvCxnSpPr>
        <p:spPr>
          <a:xfrm>
            <a:off x="3657600" y="5102352"/>
            <a:ext cx="1965960" cy="0"/>
          </a:xfrm>
          <a:prstGeom prst="straightConnector1">
            <a:avLst/>
          </a:prstGeom>
          <a:noFill/>
          <a:ln cap="flat" cmpd="sng" w="1587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6"/>
          <p:cNvCxnSpPr/>
          <p:nvPr/>
        </p:nvCxnSpPr>
        <p:spPr>
          <a:xfrm>
            <a:off x="9637776" y="3255264"/>
            <a:ext cx="18288" cy="1847088"/>
          </a:xfrm>
          <a:prstGeom prst="straightConnector1">
            <a:avLst/>
          </a:prstGeom>
          <a:noFill/>
          <a:ln cap="flat" cmpd="sng" w="15875">
            <a:solidFill>
              <a:srgbClr val="C143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2" name="Google Shape;162;p6"/>
          <p:cNvCxnSpPr/>
          <p:nvPr/>
        </p:nvCxnSpPr>
        <p:spPr>
          <a:xfrm>
            <a:off x="5623560" y="5102352"/>
            <a:ext cx="4023360" cy="0"/>
          </a:xfrm>
          <a:prstGeom prst="straightConnector1">
            <a:avLst/>
          </a:prstGeom>
          <a:noFill/>
          <a:ln cap="flat" cmpd="sng" w="15875">
            <a:solidFill>
              <a:srgbClr val="C143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6"/>
          <p:cNvSpPr/>
          <p:nvPr/>
        </p:nvSpPr>
        <p:spPr>
          <a:xfrm>
            <a:off x="3616452" y="5061204"/>
            <a:ext cx="82296" cy="82296"/>
          </a:xfrm>
          <a:prstGeom prst="ellipse">
            <a:avLst/>
          </a:prstGeom>
          <a:solidFill>
            <a:srgbClr val="8C9B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4" name="Google Shape;164;p6"/>
          <p:cNvCxnSpPr/>
          <p:nvPr/>
        </p:nvCxnSpPr>
        <p:spPr>
          <a:xfrm>
            <a:off x="3648456" y="5102352"/>
            <a:ext cx="18288" cy="91440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6"/>
          <p:cNvSpPr/>
          <p:nvPr/>
        </p:nvSpPr>
        <p:spPr>
          <a:xfrm>
            <a:off x="2148840" y="5193792"/>
            <a:ext cx="3017520" cy="310896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AEB9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240280" y="52212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Drive LEDG / LEDR / HEX0–HEX7 from lock_status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6"/>
          <p:cNvCxnSpPr/>
          <p:nvPr/>
        </p:nvCxnSpPr>
        <p:spPr>
          <a:xfrm>
            <a:off x="3648456" y="5504688"/>
            <a:ext cx="18288" cy="73152"/>
          </a:xfrm>
          <a:prstGeom prst="straightConnector1">
            <a:avLst/>
          </a:prstGeom>
          <a:noFill/>
          <a:ln cap="flat" cmpd="sng" w="22225">
            <a:solidFill>
              <a:srgbClr val="8C9B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6"/>
          <p:cNvSpPr/>
          <p:nvPr/>
        </p:nvSpPr>
        <p:spPr>
          <a:xfrm>
            <a:off x="2697480" y="5577840"/>
            <a:ext cx="1920240" cy="292608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697480" y="5577840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WAIT FOR NEXT EDGE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4617720" y="5724144"/>
            <a:ext cx="5669280" cy="0"/>
          </a:xfrm>
          <a:prstGeom prst="straightConnector1">
            <a:avLst/>
          </a:prstGeom>
          <a:noFill/>
          <a:ln cap="flat" cmpd="sng" w="15875">
            <a:solidFill>
              <a:srgbClr val="8C9BD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10287000" y="1042416"/>
            <a:ext cx="0" cy="4681728"/>
          </a:xfrm>
          <a:prstGeom prst="straightConnector1">
            <a:avLst/>
          </a:prstGeom>
          <a:noFill/>
          <a:ln cap="flat" cmpd="sng" w="15875">
            <a:solidFill>
              <a:srgbClr val="8C9BD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 rot="10800000">
            <a:off x="4617720" y="1042416"/>
            <a:ext cx="5669280" cy="0"/>
          </a:xfrm>
          <a:prstGeom prst="straightConnector1">
            <a:avLst/>
          </a:prstGeom>
          <a:noFill/>
          <a:ln cap="flat" cmpd="sng" w="15875">
            <a:solidFill>
              <a:srgbClr val="8C9BD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3" name="Google Shape;173;p6"/>
          <p:cNvSpPr/>
          <p:nvPr/>
        </p:nvSpPr>
        <p:spPr>
          <a:xfrm rot="5400000">
            <a:off x="10332720" y="305409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repeat every clock cycle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6565392"/>
            <a:ext cx="2606040" cy="256032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9525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548640" y="6647688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94944" y="6592824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Yes branch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508760" y="6647688"/>
            <a:ext cx="91440" cy="91440"/>
          </a:xfrm>
          <a:prstGeom prst="ellipse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655064" y="6592824"/>
            <a:ext cx="868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No branch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RTL Design — Module Ports &amp; Registers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custom_FPGA_door_lock.v — declaration and storage elements (lines 1–16)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custom_FPGA_door_lock.v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49224" y="1481328"/>
            <a:ext cx="5239512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1 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module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custom_FPGA_door_lock (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2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CLOCK_50,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3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SW,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4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LEDG,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5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LEDR,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6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HEX0, HEX1, HEX2,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7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HEX3, HEX4, HEX5,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8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HEX6, HEX7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 9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10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11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saved_password = 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10'b0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12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lock_status = IDLE;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13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sw16_prev = 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1'b0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14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reg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sw17_prev = </a:t>
            </a:r>
            <a:r>
              <a:rPr lang="en-US" sz="100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1'b0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15  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10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wire</a:t>
            </a:r>
            <a:r>
              <a:rPr lang="en-US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sw16_rising, sw17_rising;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6263640" y="1481328"/>
            <a:ext cx="5422392" cy="11430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263640" y="1481328"/>
            <a:ext cx="54864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Ports (input / output)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464808" y="1792224"/>
            <a:ext cx="5056632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CLOCK_50 drives all timing. SW[17:0] carries the password bits plus the two control switches. LEDG/LEDR are the green/red status LEDs, and HEX0–HEX7 are the eight seven-segment displays — all declared as reg because they're driven inside always blocks.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263640" y="2752344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263640" y="2752344"/>
            <a:ext cx="54864" cy="8686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464808" y="281635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saved_password / lock_status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64808" y="3063240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saved_password is a 10-bit register holding the currently active password. lock_status is a 2-bit register holding one of three states: IDLE, LOCKED, or UNLOCKED.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263640" y="3749040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263640" y="3749040"/>
            <a:ext cx="54864" cy="86868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464808" y="381304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sw16_prev / sw17_prev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464808" y="4059936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These registers remember last cycle's switch values so the design can detect a rising edge (a switch flipping 0→1) rather than reacting every cycle the switch is simply held high.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263640" y="4745736"/>
            <a:ext cx="5422392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263640" y="4745736"/>
            <a:ext cx="54864" cy="777240"/>
          </a:xfrm>
          <a:prstGeom prst="rect">
            <a:avLst/>
          </a:prstGeom>
          <a:solidFill>
            <a:srgbClr val="5B4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64808" y="4809744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B4B9A"/>
                </a:solidFill>
                <a:latin typeface="Calibri"/>
                <a:ea typeface="Calibri"/>
                <a:cs typeface="Calibri"/>
                <a:sym typeface="Calibri"/>
              </a:rPr>
              <a:t>sw16_rising / sw17_rising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6464808" y="5056632"/>
            <a:ext cx="505663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Declared as wire because they're combinational — continuously recomputed from the current and previous switch values (see next slide).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RTL Design — Edge Detection &amp; Password Control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custom_FPGA_door_lock.v — the main sequential always block (lines 17–33)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custom_FPGA_door_lock.v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49224" y="1481328"/>
            <a:ext cx="5239512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17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sw16_rising = 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&amp; ~sw16_prev;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18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assign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sw17_rising = 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&amp; ~sw17_prev;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19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20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9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Main password control logic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21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always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@(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posedge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CLOCK_50)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22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sw16_prev &lt;= 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23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sw17_prev &lt;= 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24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25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(sw17_rising ==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1'b1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26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saved_password &lt;= 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27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lock_status    &lt;= IDLE;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28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29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(sw16_rising ==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1'b1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30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(SW[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== saved_password)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31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lock_status &lt;= UNLOCKED;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32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33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lock_status &lt;= LOCKED;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34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35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263640" y="1481328"/>
            <a:ext cx="5422392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263640" y="1481328"/>
            <a:ext cx="54864" cy="1051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Rising-edge detectors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464808" y="1792224"/>
            <a:ext cx="5056632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sw16_rising / sw17_rising go high for exactly one clock cycle: the AND of the current switch value with the inverted previous value is true only on the 0→1 transition. This stops one switch flip from being read multiple times.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263640" y="2660904"/>
            <a:ext cx="5422392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263640" y="2660904"/>
            <a:ext cx="54864" cy="7772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464808" y="272491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always @(posedge CLOCK_50)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464808" y="2971800"/>
            <a:ext cx="505663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Everything inside runs once per rising clock edge — this is the synchronous sequential block that gives the design its clocked, register-based behaviour.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263640" y="3566160"/>
            <a:ext cx="5422392" cy="100584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263640" y="3566160"/>
            <a:ext cx="54864" cy="1005840"/>
          </a:xfrm>
          <a:prstGeom prst="rect">
            <a:avLst/>
          </a:prstGeom>
          <a:solidFill>
            <a:srgbClr val="5B4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464808" y="363016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B4B9A"/>
                </a:solidFill>
                <a:latin typeface="Calibri"/>
                <a:ea typeface="Calibri"/>
                <a:cs typeface="Calibri"/>
                <a:sym typeface="Calibri"/>
              </a:rPr>
              <a:t>if (sw17_rising) … set password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464808" y="3877056"/>
            <a:ext cx="5056632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When SW17 has just been flipped on, the current SW[9:0] value is captured into saved_password, and the status resets to IDLE — the lock isn't shown as locked or unlocked right after a password change.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6263640" y="4700016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263640" y="4700016"/>
            <a:ext cx="54864" cy="86868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464808" y="4764024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else if (sw16_rising) … verify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464808" y="5010912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When SW16 has just been flipped on instead, SW[9:0] is compared against saved_password. A match sets UNLOCKED; any mismatch sets LOCKED.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RTL Design — LED &amp; Message Display Logic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custom_FPGA_door_lock.v — combinational output blocks (lines 34–57, condensed)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custom_FPGA_door_lock.v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49224" y="1481328"/>
            <a:ext cx="5239512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34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8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LED output control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35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always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@(*)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36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(lock_status)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37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UNLOCKED: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38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LEDG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9'b111111111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LEDR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18'b0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39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40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LOCKED: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41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LEDG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9'b0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LEDR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18'b111111111111111111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42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43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LEDG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9'b0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LEDR = </a:t>
            </a:r>
            <a:r>
              <a:rPr lang="en-US" sz="8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18'b0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44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endcase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45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46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47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8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7-segment message display (HEX7..HEX0)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48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always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@(*)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49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(lock_status)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50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UNLOCKED: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n-US" sz="8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U N L O C K E 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51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HEX7=seg7_char(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"U"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HEX6=seg7_char(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"N"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52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HEX5=seg7_char(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"L"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HEX4=seg7_char(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53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HEX3=seg7_char(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HEX2=seg7_char(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"K"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54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HEX1=seg7_char(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"E"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HEX0=seg7_char(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"D"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55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56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LOCKED: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i="1" lang="en-US" sz="8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 blank blank L O C K E 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57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HEX7=seg7_char(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HEX6=seg7_char(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58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HEX5=seg7_char(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"L"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HEX4=seg7_char(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59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HEX3=seg7_char(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HEX2=seg7_char(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"K"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60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HEX1=seg7_char(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"E"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HEX0=seg7_char(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"D"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61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62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HEX7=seg7_char(</a:t>
            </a:r>
            <a:r>
              <a:rPr lang="en-US" sz="8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i="1" lang="en-US" sz="8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all blank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63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endcase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860"/>
              <a:buFont typeface="Courier New"/>
              <a:buNone/>
            </a:pPr>
            <a:r>
              <a:rPr lang="en-US" sz="8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64  </a:t>
            </a:r>
            <a:r>
              <a:rPr lang="en-US" sz="8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8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8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263640" y="1481328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263640" y="1481328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always @(*) — combinational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464808" y="1792224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Both blocks use a sensitivity list of (*), meaning they are pure combinational logic: outputs update immediately whenever lock_status changes, with no clock edge involved.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263640" y="2478024"/>
            <a:ext cx="5422392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6263640" y="2478024"/>
            <a:ext cx="54864" cy="9601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464808" y="254203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LED case statement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6464808" y="2788920"/>
            <a:ext cx="50566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UNLOCKED lights all 9 green LEDs and turns red LEDs off; LOCKED does the opposite. The default case (IDLE) turns every LED off, giving a clear neutral state right after a password change.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6263640" y="3566160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263640" y="3566160"/>
            <a:ext cx="54864" cy="86868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464808" y="363016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7-segment message case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464808" y="3877056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Each branch assigns one decoded character per HEX digit to spell out UNLOCKED or LOCKED across the 8 displays. seg7_char() is the lookup function shown on the next slide.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RTL Design — 7-Segment Character Decoder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custom_FPGA_door_lock.v — the seg7_char lookup function (lines 58–70)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custom_FPGA_door_lock.v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9224" y="1481328"/>
            <a:ext cx="5239512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58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9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Active-low 7-seg decoder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59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-US" sz="960">
                <a:solidFill>
                  <a:srgbClr val="008000"/>
                </a:solidFill>
                <a:latin typeface="Courier New"/>
                <a:ea typeface="Courier New"/>
                <a:cs typeface="Courier New"/>
                <a:sym typeface="Courier New"/>
              </a:rPr>
              <a:t>// segments [a b c d e f g], 0 = ON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60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seg7_char;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61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input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 ch;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62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63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(ch)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64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"U"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7'b1000001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65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"N"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7'b1101010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66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"L"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7'b1000111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67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"O"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7'b1000000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68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7'b1000110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69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"K"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7'b1001000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70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"E"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7'b0000110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71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"D"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7'b0100001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72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960">
                <a:solidFill>
                  <a:srgbClr val="A31515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7'b1111111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73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seg7_char = </a:t>
            </a:r>
            <a:r>
              <a:rPr lang="en-US" sz="960">
                <a:solidFill>
                  <a:srgbClr val="FF8000"/>
                </a:solidFill>
                <a:latin typeface="Courier New"/>
                <a:ea typeface="Courier New"/>
                <a:cs typeface="Courier New"/>
                <a:sym typeface="Courier New"/>
              </a:rPr>
              <a:t>7'b1111111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74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endcase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75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5B5"/>
              </a:buClr>
              <a:buSzPts val="960"/>
              <a:buFont typeface="Courier New"/>
              <a:buNone/>
            </a:pPr>
            <a:r>
              <a:rPr lang="en-US" sz="960">
                <a:solidFill>
                  <a:srgbClr val="9AA5B5"/>
                </a:solidFill>
                <a:latin typeface="Courier New"/>
                <a:ea typeface="Courier New"/>
                <a:cs typeface="Courier New"/>
                <a:sym typeface="Courier New"/>
              </a:rPr>
              <a:t>76  </a:t>
            </a:r>
            <a:r>
              <a:rPr lang="en-US" sz="96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US" sz="96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endfunction</a:t>
            </a:r>
            <a:endParaRPr sz="9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263640" y="1481328"/>
            <a:ext cx="5422392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6263640" y="1481328"/>
            <a:ext cx="54864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function [6:0] seg7_char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464808" y="1792224"/>
            <a:ext cx="50566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A Verilog function: given one ASCII character input, it returns a 7-bit pattern. Because it has no timing behaviour of its own, it can be called directly inside the combinational always block on the previous slide.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6263640" y="2569464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6263640" y="2569464"/>
            <a:ext cx="54864" cy="8686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64808" y="263347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Active-low encoding, 0 = 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464808" y="2880360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Each bit controls one segment (a through g). A 0 lights that segment and a 1 leaves it off — this matches how the DE2-115's seven-segment displays are wired.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6263640" y="3566160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6263640" y="3566160"/>
            <a:ext cx="54864" cy="86868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464808" y="363016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One case per letter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464808" y="3877056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Only the 8 letters needed to spell UNLOCKED and LOCKED (plus a blank space) are defined. Any other character falls through to the default case, which blanks the display.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Testbench — Structure &amp; DUT Instantiation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tb_custom_FPGA_door_lock_final.v — stimulus signals, clock generator, and the checker (lines 1–18)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tb_custom_FPGA_door_lock_final.v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6263640" y="1481328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263640" y="1481328"/>
            <a:ext cx="54864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reg vs wire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6464808" y="1792224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CLOCK_50 and SW are reg because the testbench drives them directly. LEDG, LEDR, and HEX0–HEX7 are wire because they're outputs read back from the DUT.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263640" y="2478024"/>
            <a:ext cx="5422392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263640" y="2478024"/>
            <a:ext cx="54864" cy="9144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6464808" y="254203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dut ( ... ) instantiation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6464808" y="2788920"/>
            <a:ext cx="5056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This creates one instance of custom_FPGA_door_lock named dut, with each port connected by name to a matching testbench signal — the standard way to wire a design under test into its testbench.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263640" y="3520440"/>
            <a:ext cx="5422392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6263640" y="3520440"/>
            <a:ext cx="54864" cy="86868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6464808" y="358444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always #10 CLOCK_50 = ~CLOCK_50;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6464808" y="3831336"/>
            <a:ext cx="5056632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A self-toggling clock generator: CLOCK_50 flips every 10 ns, giving a 20 ns period and matching the DE2-115's real 50 MHz clock.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263640" y="4517136"/>
            <a:ext cx="5422392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6263640" y="4517136"/>
            <a:ext cx="54864" cy="914400"/>
          </a:xfrm>
          <a:prstGeom prst="rect">
            <a:avLst/>
          </a:prstGeom>
          <a:solidFill>
            <a:srgbClr val="5B4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6464808" y="4581144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B4B9A"/>
                </a:solidFill>
                <a:latin typeface="Calibri"/>
                <a:ea typeface="Calibri"/>
                <a:cs typeface="Calibri"/>
                <a:sym typeface="Calibri"/>
              </a:rPr>
              <a:t>check_outputs() (not shown)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464808" y="4828032"/>
            <a:ext cx="5056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A task that compares every LEDG/LEDR/HEX bit against an expected value, prints PASS or FAIL with the test name and simulation time, and increments pass_count or fail_count.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0891" y="1584539"/>
            <a:ext cx="2047089" cy="487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2572" y="1371600"/>
            <a:ext cx="2781220" cy="5097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2"/>
          <p:cNvSpPr/>
          <p:nvPr/>
        </p:nvSpPr>
        <p:spPr>
          <a:xfrm>
            <a:off x="502920" y="292608"/>
            <a:ext cx="10607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300"/>
              <a:buFont typeface="Cambria"/>
              <a:buNone/>
            </a:pPr>
            <a:r>
              <a:rPr b="1" lang="en-US" sz="23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Testbench — Stimulus Tasks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502920" y="713232"/>
            <a:ext cx="10789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tb_custom_FPGA_door_lock_final.v — reusable routines that drive SW17 and SW16 (lines 19–38)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02920" y="1097280"/>
            <a:ext cx="5532120" cy="5440680"/>
          </a:xfrm>
          <a:prstGeom prst="roundRect">
            <a:avLst>
              <a:gd fmla="val 840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502920" y="1097280"/>
            <a:ext cx="5532120" cy="292608"/>
          </a:xfrm>
          <a:prstGeom prst="roundRect">
            <a:avLst>
              <a:gd fmla="val 15625" name="adj"/>
            </a:avLst>
          </a:prstGeom>
          <a:solidFill>
            <a:srgbClr val="EDEFF4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12648" y="1197864"/>
            <a:ext cx="91440" cy="9144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758952" y="119786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905256" y="1197864"/>
            <a:ext cx="91440" cy="9144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1051560" y="109728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27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5A6270"/>
                </a:solidFill>
                <a:latin typeface="Calibri"/>
                <a:ea typeface="Calibri"/>
                <a:cs typeface="Calibri"/>
                <a:sym typeface="Calibri"/>
              </a:rPr>
              <a:t>tb_custom_FPGA_door_lock_final.v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649224" y="1481328"/>
            <a:ext cx="5239512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"/>
              <a:buFont typeface="Calibri"/>
              <a:buNone/>
            </a:pPr>
            <a:r>
              <a:t/>
            </a:r>
            <a:endParaRPr sz="8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263640" y="1097280"/>
            <a:ext cx="5422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THIS CODE DOES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263640" y="1481328"/>
            <a:ext cx="5422392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263640" y="1481328"/>
            <a:ext cx="54864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464808" y="1545336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task set_new_password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6464808" y="1792224"/>
            <a:ext cx="5056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Loads new_password onto SW[9:0], then pulses SW17 high for exactly one clock cycle and drops it again — reproducing a real rising-edge switch flip on SW17.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6263640" y="2523744"/>
            <a:ext cx="5422392" cy="96012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263640" y="2523744"/>
            <a:ext cx="54864" cy="9601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464808" y="2587752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task enter_password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464808" y="2834640"/>
            <a:ext cx="5056632" cy="57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Loads entered_password onto SW[9:0] and pulses SW16 the same way, then calls expect_unlocked() or expect_locked() depending on whether the password was supposed to match.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263640" y="3611880"/>
            <a:ext cx="5422392" cy="105156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263640" y="3611880"/>
            <a:ext cx="54864" cy="1051560"/>
          </a:xfrm>
          <a:prstGeom prst="rect">
            <a:avLst/>
          </a:prstGeom>
          <a:solidFill>
            <a:srgbClr val="C143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464808" y="3675888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432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C1432A"/>
                </a:solidFill>
                <a:latin typeface="Calibri"/>
                <a:ea typeface="Calibri"/>
                <a:cs typeface="Calibri"/>
                <a:sym typeface="Calibri"/>
              </a:rPr>
              <a:t>@(negedge / posedge CLOCK_50)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464808" y="3922776"/>
            <a:ext cx="5056632" cy="667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These event controls line stimulus changes up with the clock: switches change on a falling edge (so they're stable before the next rising edge), and results are checked right after a rising edge — exactly when the DUT updates.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263640" y="4791456"/>
            <a:ext cx="5422392" cy="914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DCE3F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6263640" y="4791456"/>
            <a:ext cx="54864" cy="914400"/>
          </a:xfrm>
          <a:prstGeom prst="rect">
            <a:avLst/>
          </a:prstGeom>
          <a:solidFill>
            <a:srgbClr val="5B4B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464808" y="4855464"/>
            <a:ext cx="505663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4B9A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5B4B9A"/>
                </a:solidFill>
                <a:latin typeface="Calibri"/>
                <a:ea typeface="Calibri"/>
                <a:cs typeface="Calibri"/>
                <a:sym typeface="Calibri"/>
              </a:rPr>
              <a:t>Why use tasks at all?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464808" y="5102352"/>
            <a:ext cx="5056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980"/>
              <a:buFont typeface="Calibri"/>
              <a:buNone/>
            </a:pPr>
            <a:r>
              <a:rPr lang="en-US" sz="98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Both directed test cases below (set password, then verify) reduce to one call each: set_new_password(...) and enter_password(...). This keeps the test sequence short and readable.</a:t>
            </a:r>
            <a:endParaRPr sz="98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783" y="1572348"/>
            <a:ext cx="1920406" cy="4846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41891" y="1481328"/>
            <a:ext cx="2527389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3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Directed Simulation Test Cases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Stimulus sequence applied to the testbench and the expected response at each step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7" name="Google Shape;367;p13"/>
          <p:cNvGraphicFramePr/>
          <p:nvPr/>
        </p:nvGraphicFramePr>
        <p:xfrm>
          <a:off x="64008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{42F9A356-ACFB-4FAA-9867-6E1473F95AC0}</a:tableStyleId>
              </a:tblPr>
              <a:tblGrid>
                <a:gridCol w="411475"/>
                <a:gridCol w="3246125"/>
                <a:gridCol w="914400"/>
                <a:gridCol w="914400"/>
                <a:gridCol w="1371600"/>
                <a:gridCol w="4023350"/>
              </a:tblGrid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Stimulus / Operation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LEDG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LEDR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HEX Display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 Result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 password = 1010101010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Blank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 stored on SW17 rising edge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Enter incorrect password = 1110001110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43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143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Failure indication expected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Enter correct password = 1010101010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98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99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UNLOCKED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Success indication expected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 second password = 0011110011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28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6B72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Blank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Stored password updated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Enter previous password = 1010101010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143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143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LOCKED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Old password rejected after update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00"/>
                        <a:buFont typeface="Courier New"/>
                        <a:buNone/>
                      </a:pPr>
                      <a:r>
                        <a:rPr lang="en-US" sz="1000" u="none" cap="none" strike="noStrike">
                          <a:solidFill>
                            <a:srgbClr val="1E233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Enter correct second password = 0011110011</a:t>
                      </a:r>
                      <a:endParaRPr sz="10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OFF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998B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B99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UNLOCKED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330"/>
                        </a:buClr>
                        <a:buSzPts val="1020"/>
                        <a:buFont typeface="Calibri"/>
                        <a:buNone/>
                      </a:pPr>
                      <a:r>
                        <a:rPr lang="en-US" sz="1020" u="none" cap="none" strike="noStrike">
                          <a:solidFill>
                            <a:srgbClr val="1E233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Updated password accepted</a:t>
                      </a:r>
                      <a:endParaRPr sz="102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E3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1FA"/>
                    </a:solidFill>
                  </a:tcPr>
                </a:tc>
              </a:tr>
            </a:tbl>
          </a:graphicData>
        </a:graphic>
      </p:graphicFrame>
      <p:sp>
        <p:nvSpPr>
          <p:cNvPr id="368" name="Google Shape;368;p13"/>
          <p:cNvSpPr/>
          <p:nvPr/>
        </p:nvSpPr>
        <p:spPr>
          <a:xfrm>
            <a:off x="640080" y="55321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998B"/>
              </a:buClr>
              <a:buSzPts val="1200"/>
              <a:buFont typeface="Calibri"/>
              <a:buNone/>
            </a:pPr>
            <a:r>
              <a:rPr b="1" i="1" lang="en-US" sz="1200">
                <a:solidFill>
                  <a:srgbClr val="1B998B"/>
                </a:solidFill>
                <a:latin typeface="Calibri"/>
                <a:ea typeface="Calibri"/>
                <a:cs typeface="Calibri"/>
                <a:sym typeface="Calibri"/>
              </a:rPr>
              <a:t>All six directed cases produced PASS results in simulation (pass_count = 6, fail_count = 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B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"/>
          <p:cNvSpPr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330"/>
                </a:solidFill>
                <a:latin typeface="Cambria"/>
                <a:ea typeface="Cambria"/>
                <a:cs typeface="Cambria"/>
                <a:sym typeface="Cambria"/>
              </a:rPr>
              <a:t>Simulation Results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40080" y="8412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ModelSim-Altera waveform — pass_count reaches 7, fail_count remains 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2170072" y="1207008"/>
            <a:ext cx="7821377" cy="3392424"/>
          </a:xfrm>
          <a:prstGeom prst="roundRect">
            <a:avLst>
              <a:gd fmla="val 1348" name="adj"/>
            </a:avLst>
          </a:prstGeom>
          <a:solidFill>
            <a:srgbClr val="FFFFFF"/>
          </a:solidFill>
          <a:ln cap="flat" cmpd="sng" w="12700">
            <a:solidFill>
              <a:srgbClr val="C9CED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oor_lock_ppt/assets/simulation_waveform.png" id="377" name="Google Shape;3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3224" y="1280160"/>
            <a:ext cx="7675073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4"/>
          <p:cNvSpPr/>
          <p:nvPr/>
        </p:nvSpPr>
        <p:spPr>
          <a:xfrm>
            <a:off x="640080" y="4645152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Figure (Appendix) — ModelSim-Altera waveform from the lab report, captured at the end of simulation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640080" y="4946904"/>
            <a:ext cx="5257800" cy="1417320"/>
          </a:xfrm>
          <a:prstGeom prst="roundRect">
            <a:avLst>
              <a:gd fmla="val 451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868680" y="5065776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THE WAVEFORM SHOWS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868680" y="5330952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20"/>
              <a:buFont typeface="Calibri"/>
              <a:buChar char="▪"/>
            </a:pPr>
            <a:r>
              <a:rPr lang="en-US" sz="102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SW17 pulses mark password-set events; SW16 pulses mark verification events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868680" y="5788152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330"/>
              </a:buClr>
              <a:buSzPts val="1020"/>
              <a:buFont typeface="Calibri"/>
              <a:buChar char="▪"/>
            </a:pPr>
            <a:r>
              <a:rPr lang="en-US" sz="1020">
                <a:solidFill>
                  <a:srgbClr val="1E2330"/>
                </a:solidFill>
                <a:latin typeface="Calibri"/>
                <a:ea typeface="Calibri"/>
                <a:cs typeface="Calibri"/>
                <a:sym typeface="Calibri"/>
              </a:rPr>
              <a:t>LEDG (green) and LEDR (red) bands never overlap — confirms mutually exclusive states</a:t>
            </a:r>
            <a:endParaRPr sz="102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6080760" y="4946904"/>
            <a:ext cx="5440680" cy="1417320"/>
          </a:xfrm>
          <a:prstGeom prst="roundRect">
            <a:avLst>
              <a:gd fmla="val 4516" name="adj"/>
            </a:avLst>
          </a:prstGeom>
          <a:solidFill>
            <a:srgbClr val="1E2761"/>
          </a:solidFill>
          <a:ln>
            <a:noFill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4" name="Google Shape;3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511149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4"/>
          <p:cNvSpPr/>
          <p:nvPr/>
        </p:nvSpPr>
        <p:spPr>
          <a:xfrm>
            <a:off x="6812280" y="509320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TESTS PASSED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309360" y="5458968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60"/>
              <a:buFont typeface="Calibri"/>
              <a:buNone/>
            </a:pPr>
            <a:r>
              <a:rPr lang="en-US" sz="106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pass_count = 7   |   fail_count = 0</a:t>
            </a:r>
            <a:endParaRPr sz="1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60"/>
              <a:buFont typeface="Calibri"/>
              <a:buNone/>
            </a:pPr>
            <a:r>
              <a:rPr lang="en-US" sz="106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Covers password set, correct/incorrect verification, and password update across two full cycles.</a:t>
            </a:r>
            <a:endParaRPr sz="10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9266544" y="107607"/>
            <a:ext cx="26055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demo set password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9266544" y="421138"/>
            <a:ext cx="2829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Video demo enter password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10058400" y="-2286000"/>
            <a:ext cx="4572000" cy="457200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777240" y="6400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lang="en-US"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77724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What the updated design achieved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777240" y="1874520"/>
            <a:ext cx="365760" cy="3657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9" name="Google Shape;3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9659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/>
          <p:nvPr/>
        </p:nvSpPr>
        <p:spPr>
          <a:xfrm>
            <a:off x="1325880" y="1819656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Stores a 10-bit password and uses SW17 / SW16 as dedicated set and verify triggers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777240" y="2587752"/>
            <a:ext cx="365760" cy="3657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2" name="Google Shape;4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26791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5"/>
          <p:cNvSpPr/>
          <p:nvPr/>
        </p:nvSpPr>
        <p:spPr>
          <a:xfrm>
            <a:off x="1325880" y="253288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Lights all green LEDs for UNLOCKED and all red LEDs for LOCKED — clear, unambiguous status indication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777240" y="3300984"/>
            <a:ext cx="365760" cy="3657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33924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5"/>
          <p:cNvSpPr/>
          <p:nvPr/>
        </p:nvSpPr>
        <p:spPr>
          <a:xfrm>
            <a:off x="1325880" y="32461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Displays the words “UNLOCKED” or “LOCKED” across the eight seven-segment displays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777240" y="4014216"/>
            <a:ext cx="365760" cy="3657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8" name="Google Shape;4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1056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15"/>
          <p:cNvSpPr/>
          <p:nvPr/>
        </p:nvSpPr>
        <p:spPr>
          <a:xfrm>
            <a:off x="1325880" y="3959352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verified in simulation: 7/7 directed test cases passed with zero failures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77240" y="4727448"/>
            <a:ext cx="365760" cy="365760"/>
          </a:xfrm>
          <a:prstGeom prst="ellipse">
            <a:avLst/>
          </a:prstGeom>
          <a:solidFill>
            <a:srgbClr val="141B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1" name="Google Shape;4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8188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5"/>
          <p:cNvSpPr/>
          <p:nvPr/>
        </p:nvSpPr>
        <p:spPr>
          <a:xfrm>
            <a:off x="1325880" y="4672584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Demonstrates synchronous sequential design, edge detection, register-based comparison, and combinational display decoding — the core building blocks of real access-control electronics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77240" y="62636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BD6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C9BD6"/>
                </a:solidFill>
                <a:latin typeface="Calibri"/>
                <a:ea typeface="Calibri"/>
                <a:cs typeface="Calibri"/>
                <a:sym typeface="Calibri"/>
              </a:rPr>
              <a:t>Course: EEE3822 Digital System  ·  Faculty of Engineering, UPM  ·  23 June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2026-06-29T07:22:00Z</dcterms:created>
  <dc:creator>Peh Yan Jiun, Li Xinyuan, Li Jinpu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D9A9BAB89098430D9E789667A4A21B19_12</vt:lpwstr>
  </property>
</Properties>
</file>